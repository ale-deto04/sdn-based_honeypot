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TC Avant Garde Gothic" charset="1" panose="020B0502020202020204"/>
      <p:regular r:id="rId19"/>
    </p:embeddedFont>
    <p:embeddedFont>
      <p:font typeface="TT Fors" charset="1" panose="020B0003030001020000"/>
      <p:regular r:id="rId20"/>
    </p:embeddedFont>
    <p:embeddedFont>
      <p:font typeface="TT Fors Bold" charset="1" panose="020B0003030001020000"/>
      <p:regular r:id="rId21"/>
    </p:embeddedFont>
    <p:embeddedFont>
      <p:font typeface="ITC Avant Garde Gothic Bold" charset="1" panose="020B0802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140199"/>
            <a:chOff x="0" y="0"/>
            <a:chExt cx="13017500" cy="55202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93875"/>
              <a:ext cx="13017500" cy="37263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999"/>
                </a:lnSpc>
              </a:pPr>
              <a:r>
                <a:rPr lang="en-US" sz="9999" spc="-299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SDN Based</a:t>
              </a:r>
            </a:p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HoneyPot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“NEXT GENERATION NETWORKS” COURSEWORK</a:t>
              </a:r>
            </a:p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DISI, UNIVERSITY OF TRENTO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8644890"/>
            <a:ext cx="8480526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C9D1D9"/>
                </a:solidFill>
                <a:latin typeface="TT Fors"/>
                <a:ea typeface="TT Fors"/>
                <a:cs typeface="TT Fors"/>
                <a:sym typeface="TT Fors"/>
              </a:rPr>
              <a:t>De Toffoli Alessandro</a:t>
            </a:r>
          </a:p>
          <a:p>
            <a:pPr algn="l" marL="0" indent="0" lvl="0">
              <a:lnSpc>
                <a:spcPts val="3779"/>
              </a:lnSpc>
            </a:pPr>
            <a:r>
              <a:rPr lang="en-US" sz="2700">
                <a:solidFill>
                  <a:srgbClr val="C9D1D9"/>
                </a:solidFill>
                <a:latin typeface="TT Fors"/>
                <a:ea typeface="TT Fors"/>
                <a:cs typeface="TT Fors"/>
                <a:sym typeface="TT Fors"/>
              </a:rPr>
              <a:t>https://github.com/Ale-Deto04/SDN-Based_Honeypot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7528365"/>
            <a:chOff x="0" y="0"/>
            <a:chExt cx="11099800" cy="100378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634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Overview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1940"/>
              <a:ext cx="9182100" cy="6405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63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This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oj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foc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ses on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SDN-based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s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ecurity h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on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eyp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archite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ctur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mplemented on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Kathará-emu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ated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enter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ris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netwo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k.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cenar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ode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 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comp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ny environmen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 l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git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mat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HTTP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rver,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 ho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eyp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t, and bot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usted 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un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trusted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hosts.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Using SDN c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b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ilit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s,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controller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dynamically 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te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ct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ust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acce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att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mpts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nd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ransp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are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ntly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ts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ou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tra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ff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eypot,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without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ng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ker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7899840"/>
            <a:chOff x="0" y="0"/>
            <a:chExt cx="11099800" cy="105331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634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HoneyPot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1940"/>
              <a:ext cx="9182100" cy="6901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63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 honeypot is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 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deco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y system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design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ed to attract malicio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us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use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by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appearing as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 l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gitimate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se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rvi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e, w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g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oal of obser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ng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b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havior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thou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exp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ssets.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In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is 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oj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ct,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hone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pot is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implem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ente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as a 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dicated ho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</a:t>
              </a:r>
              <a:r>
                <a:rPr lang="en-US" b="true" sz="2100" spc="-63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at c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sely re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lic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ates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beha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vi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the legitimate server wh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il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ovidin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nly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fake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,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non-s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ensi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iv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info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rma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This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ap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pro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ch 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lows 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tack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ers to intera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ct w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alis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tic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vi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ronment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, 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enabling sa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m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oni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oring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nd an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ly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is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of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malicious acti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it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 spc="-63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413940"/>
            <a:chOff x="0" y="0"/>
            <a:chExt cx="11099800" cy="85519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904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Network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1940"/>
              <a:ext cx="9182100" cy="4919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The network is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implemen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ed as a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Software-Defined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etwor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king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(SDN) environment composed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of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lti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subnets connecte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roug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 an Open v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inst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ce,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hich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acts as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entral forwarding device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SDN controller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base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 on 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man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ages the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network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behavior, handli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ng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routing function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iti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es, monitoring traffi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fro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iou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 hosts, and performing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ep Packet In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spec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ti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lyze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application-layer pay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loads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049743" y="2172126"/>
            <a:ext cx="10571507" cy="7602122"/>
          </a:xfrm>
          <a:custGeom>
            <a:avLst/>
            <a:gdLst/>
            <a:ahLst/>
            <a:cxnLst/>
            <a:rect r="r" b="b" t="t" l="l"/>
            <a:pathLst>
              <a:path h="7602122" w="10571507">
                <a:moveTo>
                  <a:pt x="0" y="0"/>
                </a:moveTo>
                <a:lnTo>
                  <a:pt x="10571507" y="0"/>
                </a:lnTo>
                <a:lnTo>
                  <a:pt x="10571507" y="7602122"/>
                </a:lnTo>
                <a:lnTo>
                  <a:pt x="0" y="7602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83" r="0" b="-228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66750" y="657225"/>
            <a:ext cx="14077950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C9D1D9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Network Topology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661594"/>
            <a:ext cx="5716475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-63">
                <a:solidFill>
                  <a:srgbClr val="C9D1D9"/>
                </a:solidFill>
                <a:latin typeface="TT Fors"/>
                <a:ea typeface="TT Fors"/>
                <a:cs typeface="TT Fors"/>
                <a:sym typeface="TT Fors"/>
              </a:rPr>
              <a:t>Four different devices on different subnets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-63">
                <a:solidFill>
                  <a:srgbClr val="C9D1D9"/>
                </a:solidFill>
                <a:latin typeface="TT Fors"/>
                <a:ea typeface="TT Fors"/>
                <a:cs typeface="TT Fors"/>
                <a:sym typeface="TT Fors"/>
              </a:rPr>
              <a:t>Open vSwitch linking the collision domains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-63">
                <a:solidFill>
                  <a:srgbClr val="C9D1D9"/>
                </a:solidFill>
                <a:latin typeface="TT Fors"/>
                <a:ea typeface="TT Fors"/>
                <a:cs typeface="TT Fors"/>
                <a:sym typeface="TT Fors"/>
              </a:rPr>
              <a:t>SDN Controller administrating the network</a:t>
            </a:r>
          </a:p>
          <a:p>
            <a:pPr algn="just">
              <a:lnSpc>
                <a:spcPts val="2940"/>
              </a:lnSpc>
            </a:pPr>
          </a:p>
          <a:p>
            <a:pPr algn="just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-63">
                <a:solidFill>
                  <a:srgbClr val="C9D1D9"/>
                </a:solidFill>
                <a:latin typeface="TT Fors"/>
                <a:ea typeface="TT Fors"/>
                <a:cs typeface="TT Fors"/>
                <a:sym typeface="TT Fors"/>
              </a:rPr>
              <a:t>Second client’s LAN is untrusted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3762375"/>
            <a:chOff x="0" y="0"/>
            <a:chExt cx="815850" cy="4457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850" cy="445727"/>
            </a:xfrm>
            <a:custGeom>
              <a:avLst/>
              <a:gdLst/>
              <a:ahLst/>
              <a:cxnLst/>
              <a:rect r="r" b="b" t="t" l="l"/>
              <a:pathLst>
                <a:path h="445727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445727"/>
                  </a:lnTo>
                  <a:lnTo>
                    <a:pt x="0" y="445727"/>
                  </a:lnTo>
                  <a:close/>
                </a:path>
              </a:pathLst>
            </a:custGeom>
            <a:blipFill>
              <a:blip r:embed="rId2"/>
              <a:stretch>
                <a:fillRect l="-353" t="0" r="-35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4733925"/>
            <a:ext cx="6886575" cy="4886325"/>
            <a:chOff x="0" y="0"/>
            <a:chExt cx="815850" cy="5788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5850" cy="578881"/>
            </a:xfrm>
            <a:custGeom>
              <a:avLst/>
              <a:gdLst/>
              <a:ahLst/>
              <a:cxnLst/>
              <a:rect r="r" b="b" t="t" l="l"/>
              <a:pathLst>
                <a:path h="578881" w="815850">
                  <a:moveTo>
                    <a:pt x="0" y="0"/>
                  </a:moveTo>
                  <a:lnTo>
                    <a:pt x="815850" y="0"/>
                  </a:lnTo>
                  <a:lnTo>
                    <a:pt x="815850" y="578881"/>
                  </a:lnTo>
                  <a:lnTo>
                    <a:pt x="0" y="578881"/>
                  </a:lnTo>
                  <a:close/>
                </a:path>
              </a:pathLst>
            </a:custGeom>
            <a:blipFill>
              <a:blip r:embed="rId3"/>
              <a:stretch>
                <a:fillRect l="-144" t="0" r="-14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8324850" cy="5547360"/>
            <a:chOff x="0" y="0"/>
            <a:chExt cx="11099800" cy="73964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SDN Controller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6852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Main features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467100"/>
              <a:ext cx="91821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Routing functionalities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Deep Packet Inspection on HTTP packets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Mostly self learning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Real-time messages and updates to the dashboard GUI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6413940"/>
            <a:chOff x="0" y="0"/>
            <a:chExt cx="11099800" cy="85519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Threat model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634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Untrusted subnets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1940"/>
              <a:ext cx="9182100" cy="4919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ot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com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any subn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hav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he 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privi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eges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The server exposes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HTTP 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vi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w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min-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nly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are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 con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nin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p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iv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te informat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Acc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to 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tecte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resources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wed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nly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trust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sub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t,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here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as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raffic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rigi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ng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f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ruste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sub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net 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 co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sid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ed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suspici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us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cont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inu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 moni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red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7156890"/>
            <a:chOff x="0" y="0"/>
            <a:chExt cx="11099800" cy="95425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Threat model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634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Monitoring system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1940"/>
              <a:ext cx="9182100" cy="5910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Traffic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origin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ating from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sted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net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work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is continuously monitor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ed by the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SDN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contr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lle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For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CP traffic,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cont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oll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er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rf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acket Inspection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(DP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I)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applica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n-l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pa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ylo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ad, sea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rch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ing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for 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fic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atte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rns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that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in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dicate atte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pts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to 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unau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thorized or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tecte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resources.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This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mechani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sy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em to 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dentify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suspicious b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ehavior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 at ru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ime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nd di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stingu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sh legitimate traffic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from potent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tacks.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7899840"/>
            <a:chOff x="0" y="0"/>
            <a:chExt cx="11099800" cy="105331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Redirection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634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Installing flow rules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1940"/>
              <a:ext cx="9182100" cy="6901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When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rus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att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mpt is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de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tected,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SDN 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troll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 reacts b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installing a s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ecific fl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w rule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on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sw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 rul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ynamically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modifi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the IP he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ders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of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the packets, red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rectin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the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ff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 ge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ate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by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susp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lient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tow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honeypot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redirection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is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comple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ly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nsparent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attack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r: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fro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ent’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perspect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ve,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com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still ap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to be est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b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he legi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im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te server, w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it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 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tually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dled by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honey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po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7899840"/>
            <a:chOff x="0" y="0"/>
            <a:chExt cx="11099800" cy="105331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Redirection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634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Connection loss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1940"/>
              <a:ext cx="9182100" cy="6901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During tr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affic redir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ect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ion, 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leg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ima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er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er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int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nall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y 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mulates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conn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ec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ion loss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This is necessary because the client must establish a new TCP connection with the honeypot, and it is 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ot possible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to seamless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ly continue the existing TCP sessi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without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interruption.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rom the client’s perspective, the temporary connection fail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ure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appears as a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normal net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w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o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rk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issu</a:t>
              </a:r>
              <a:r>
                <a:rPr lang="en-US" b="true" sz="2100" strike="noStrike" u="non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,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after which communication is re-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established with what is believed to be the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ori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gi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al server, 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bu</a:t>
              </a:r>
              <a:r>
                <a:rPr lang="en-US" sz="2100" strike="noStrike" u="none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 is actually the honeypot.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5670990"/>
            <a:chOff x="0" y="0"/>
            <a:chExt cx="11099800" cy="75613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Redirection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63465"/>
              <a:ext cx="11099800" cy="714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7A8EA3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Real-world scenario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1940"/>
              <a:ext cx="9182100" cy="3929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In fact, in real-world deployments, honeypots are often not implemented as fully separate servers.</a:t>
              </a:r>
            </a:p>
            <a:p>
              <a:pPr algn="just">
                <a:lnSpc>
                  <a:spcPts val="2940"/>
                </a:lnSpc>
              </a:pPr>
            </a:p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Instead, they are commonly integrated as decoy </a:t>
              </a:r>
              <a:r>
                <a:rPr lang="en-US" sz="2100" b="tru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portions of the same service </a:t>
              </a: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or implemented through </a:t>
              </a:r>
              <a:r>
                <a:rPr lang="en-US" sz="2100" b="true">
                  <a:solidFill>
                    <a:srgbClr val="C9D1D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proxy-based architectures </a:t>
              </a: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to overcome TCP-level limitations and TLS-related issues.</a:t>
              </a:r>
            </a:p>
            <a:p>
              <a:pPr algn="just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4010025" cy="2699385"/>
            <a:chOff x="0" y="0"/>
            <a:chExt cx="5346700" cy="35991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55700"/>
              <a:ext cx="53467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Kathará is a network emulation framework used to simulate the enterprise network, enabling realistic testing of the SDN-based architecture.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C9D1D9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Kathara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143500"/>
            <a:ext cx="4010025" cy="3070860"/>
            <a:chOff x="0" y="0"/>
            <a:chExt cx="5346700" cy="40944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55700"/>
              <a:ext cx="5346700" cy="293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Ryu is a</a:t>
              </a: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Python-based SDN framework that provides libraries for building network controllers. The proposed controller is derived from the simple_switch_13.py.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9D1D9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Ryu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143500"/>
            <a:ext cx="4010025" cy="3070860"/>
            <a:chOff x="0" y="0"/>
            <a:chExt cx="5346700" cy="40944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5346700" cy="2938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Flask</a:t>
              </a:r>
              <a:r>
                <a:rPr lang="en-US" sz="2100">
                  <a:solidFill>
                    <a:srgbClr val="C9D1D9"/>
                  </a:solidFill>
                  <a:latin typeface="TT Fors"/>
                  <a:ea typeface="TT Fors"/>
                  <a:cs typeface="TT Fors"/>
                  <a:sym typeface="TT Fors"/>
                </a:rPr>
                <a:t> is a lightweight Python web framework used to implement the HTTP services in the project, including both the legitimate server and the honeypot.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04775"/>
              <a:ext cx="53467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9D1D9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Flask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Tools &amp; Technologies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235200"/>
              <a:ext cx="134239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</a:pPr>
              <a:r>
                <a:rPr lang="en-US" sz="3199" spc="-95">
                  <a:solidFill>
                    <a:srgbClr val="7A8EA3"/>
                  </a:solidFill>
                  <a:latin typeface="TT Fors"/>
                  <a:ea typeface="TT Fors"/>
                  <a:cs typeface="TT Fors"/>
                  <a:sym typeface="TT Fors"/>
                </a:rPr>
                <a:t>Main technologies involved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20315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40630" y="0"/>
              <a:ext cx="1079758" cy="1079758"/>
            </a:xfrm>
            <a:custGeom>
              <a:avLst/>
              <a:gdLst/>
              <a:ahLst/>
              <a:cxnLst/>
              <a:rect r="r" b="b" t="t" l="l"/>
              <a:pathLst>
                <a:path h="1079758" w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0"/>
            <a:ext cx="7858125" cy="10287000"/>
            <a:chOff x="0" y="0"/>
            <a:chExt cx="1764443" cy="23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4443" cy="2309817"/>
            </a:xfrm>
            <a:custGeom>
              <a:avLst/>
              <a:gdLst/>
              <a:ahLst/>
              <a:cxnLst/>
              <a:rect r="r" b="b" t="t" l="l"/>
              <a:pathLst>
                <a:path h="2309817" w="1764443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l="0" t="-255" r="0" b="-2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251919" cy="2552700"/>
            <a:chOff x="0" y="0"/>
            <a:chExt cx="12335893" cy="34036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Demo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78050"/>
              <a:ext cx="12335893" cy="1225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0"/>
                </a:lnSpc>
              </a:pPr>
              <a:r>
                <a:rPr lang="en-US" sz="2900" spc="-87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GitHub Repository</a:t>
              </a:r>
            </a:p>
            <a:p>
              <a:pPr algn="l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sz="2900" spc="-87">
                  <a:solidFill>
                    <a:srgbClr val="C9D1D9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https://github.com/Ale-Deto04/SDN-Based_Honeypot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Presentazione - Progetto Reti Avanzate</dc:description>
  <dc:identifier>DAG_iMAuHzU</dc:identifier>
  <dcterms:modified xsi:type="dcterms:W3CDTF">2011-08-01T06:04:30Z</dcterms:modified>
  <cp:revision>1</cp:revision>
  <dc:title>Presentazione - Progetto Reti Avanzate</dc:title>
</cp:coreProperties>
</file>